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200" b="1" i="0">
                <a:solidFill>
                  <a:srgbClr val="F0E9DD"/>
                </a:solidFill>
                <a:latin typeface="Inter"/>
              </a:rPr>
              <a:t>Capture your best planner's knowledge</a:t>
            </a:r>
          </a:p>
          <a:p>
            <a:pPr>
              <a:spcBef>
                <a:spcPts val="600"/>
              </a:spcBef>
            </a:pPr>
            <a:r>
              <a:rPr sz="4000" b="0" i="0">
                <a:solidFill>
                  <a:srgbClr val="A89F90"/>
                </a:solidFill>
                <a:latin typeface="Inter"/>
              </a:rPr>
              <a:t>before it walks out the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F0E9DD"/>
                </a:solidFill>
                <a:latin typeface="Inter"/>
              </a:rPr>
              <a:t>An advisory AI agent for production scheduling and JIT procurement</a:t>
            </a:r>
            <a:r>
              <a:rPr sz="1600" b="0" i="0">
                <a:solidFill>
                  <a:srgbClr val="F0E9DD"/>
                </a:solidFill>
                <a:latin typeface="Inter"/>
              </a:rPr>
              <a:t> — runs on a single machine inside your plant, learns from every decision your planner makes, and turns 15 years of tribal knowledge into an asset you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0" i="0">
                <a:solidFill>
                  <a:srgbClr val="A89F90"/>
                </a:solidFill>
                <a:latin typeface="Consolas"/>
              </a:rPr>
              <a:t>Galvon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A89F90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A89F90"/>
                </a:solidFill>
                <a:latin typeface="Consolas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5600" b="1" i="0">
                <a:solidFill>
                  <a:srgbClr val="F0E9DD"/>
                </a:solidFill>
                <a:latin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F0E9DD"/>
                </a:solidFill>
                <a:latin typeface="Inter"/>
              </a:rPr>
              <a:t>Every manufacturing company has </a:t>
            </a:r>
            <a:r>
              <a:rPr sz="1800" b="1" i="0">
                <a:solidFill>
                  <a:srgbClr val="F0E9DD"/>
                </a:solidFill>
                <a:latin typeface="Inter"/>
              </a:rPr>
              <a:t>one or two people who really know how to run the place</a:t>
            </a:r>
            <a:r>
              <a:rPr sz="1800" b="0" i="0">
                <a:solidFill>
                  <a:srgbClr val="F0E9DD"/>
                </a:solidFill>
                <a:latin typeface="Inter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0E9DD"/>
                </a:solidFill>
                <a:latin typeface="Inter"/>
              </a:rPr>
              <a:t>They decide what to make today. What to order. From whom. When to expedite. When to wait. Their knowledge is in their head — built from 15 years of being burned by Supplier A in monsoon, knowing Machine 4 hates a 2-hour run-then-stop, knowing Tata pays a ₹50K/day penalty if you slip.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0E9DD"/>
                </a:solidFill>
                <a:latin typeface="Inter"/>
              </a:rPr>
              <a:t>When that person is on leave, takes a competing job, or retires, the company loses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A89F90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A89F90"/>
                </a:solidFill>
                <a:latin typeface="Consolas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600" b="1" i="0">
                <a:solidFill>
                  <a:srgbClr val="221E1A"/>
                </a:solidFill>
                <a:latin typeface="Inter"/>
              </a:rPr>
              <a:t>What This Costs You —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0" i="0">
                <a:solidFill>
                  <a:srgbClr val="666058"/>
                </a:solidFill>
                <a:latin typeface="Inter"/>
              </a:rPr>
              <a:t>A typical mid-size plant loses </a:t>
            </a:r>
            <a:r>
              <a:rPr sz="1600" b="1" i="0">
                <a:solidFill>
                  <a:srgbClr val="666058"/>
                </a:solidFill>
                <a:latin typeface="Inter"/>
              </a:rPr>
              <a:t>₹2–8 Cr a year</a:t>
            </a:r>
            <a:r>
              <a:rPr sz="1600" b="0" i="0">
                <a:solidFill>
                  <a:srgbClr val="666058"/>
                </a:solidFill>
                <a:latin typeface="Inter"/>
              </a:rPr>
              <a:t> to scheduling mistakes nobody captures.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66058"/>
                          </a:solidFill>
                          <a:latin typeface="Inter"/>
                        </a:rPr>
                        <a:t>Where the money goes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66058"/>
                          </a:solidFill>
                          <a:latin typeface="Inter"/>
                        </a:rPr>
                        <a:t>Typical annual loss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Late-delivery penalties + lost orders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₹40 L – 2 Cr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Expedited freight to recover slippage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₹20 – 80 L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Scrap from bad changeover sequencing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₹30 L – 1.5 Cr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Lost shifts to setup/changeover thrash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₹50 L – 2 Cr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Excess working capital in safety stock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₹1 – 3 Cr tied up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666058"/>
                </a:solidFill>
                <a:latin typeface="Inter"/>
              </a:rPr>
              <a:t>These numbers don't show up in any one report. They're hidden across penalty debits, freight invoices, scrap registers, and inventory holding cost — and they grow when your best planner is on leave.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666058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666058"/>
                </a:solidFill>
                <a:latin typeface="Consola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600" b="1" i="0">
                <a:solidFill>
                  <a:srgbClr val="F0E9DD"/>
                </a:solidFill>
                <a:latin typeface="Inter"/>
              </a:rPr>
              <a:t>The Agent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FACTORY DATA               THE AGENT                THE PLANNER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(ERP, Excel, MES)    ───►  reads, reasons,   ───►  approves / edits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cites rules                   │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       ▼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CORRECTION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captured with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reasoning,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written to vault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       │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       ▼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next time the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agent retrieves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this correction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and does not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                     repeat the mistake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657600" cy="457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F0E9DD"/>
                </a:solidFill>
                <a:latin typeface="Inter"/>
              </a:rPr>
              <a:t>The agent does </a:t>
            </a:r>
            <a:r>
              <a:rPr sz="1300" b="1" i="0">
                <a:solidFill>
                  <a:srgbClr val="F0E9DD"/>
                </a:solidFill>
                <a:latin typeface="Inter"/>
              </a:rPr>
              <a:t>not</a:t>
            </a:r>
            <a:r>
              <a:rPr sz="1300" b="0" i="0">
                <a:solidFill>
                  <a:srgbClr val="F0E9DD"/>
                </a:solidFill>
                <a:latin typeface="Inter"/>
              </a:rPr>
              <a:t> decide for you. It recommends. The planner approves. Every edit teaches it. Everything is auditable.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A89F90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A89F90"/>
                </a:solidFill>
                <a:latin typeface="Consolas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400" b="1" i="0">
                <a:solidFill>
                  <a:srgbClr val="221E1A"/>
                </a:solidFill>
                <a:latin typeface="Inter"/>
              </a:rPr>
              <a:t>Two Vaults — Playbook and Logbook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 i="0">
                <a:solidFill>
                  <a:srgbClr val="666058"/>
                </a:solidFill>
                <a:latin typeface="Inter"/>
              </a:rPr>
              <a:t>The agent reads from a </a:t>
            </a:r>
            <a:r>
              <a:rPr sz="1400" b="1" i="0">
                <a:solidFill>
                  <a:srgbClr val="666058"/>
                </a:solidFill>
                <a:latin typeface="Inter"/>
              </a:rPr>
              <a:t>Skills Vault</a:t>
            </a:r>
            <a:r>
              <a:rPr sz="1400" b="0" i="0">
                <a:solidFill>
                  <a:srgbClr val="666058"/>
                </a:solidFill>
                <a:latin typeface="Inter"/>
              </a:rPr>
              <a:t> (the factory's playbook, written by humans) and writes to a </a:t>
            </a:r>
            <a:r>
              <a:rPr sz="1400" b="1" i="0">
                <a:solidFill>
                  <a:srgbClr val="666058"/>
                </a:solidFill>
                <a:latin typeface="Inter"/>
              </a:rPr>
              <a:t>Memory Vault</a:t>
            </a:r>
            <a:r>
              <a:rPr sz="1400" b="0" i="0">
                <a:solidFill>
                  <a:srgbClr val="666058"/>
                </a:solidFill>
                <a:latin typeface="Inter"/>
              </a:rPr>
              <a:t> (the logbook of every decision, correction, and lesson learned).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43500" cy="4206240"/>
          </a:xfrm>
          <a:prstGeom prst="roundRect">
            <a:avLst>
              <a:gd name="adj" fmla="val 4000"/>
            </a:avLst>
          </a:prstGeom>
          <a:solidFill>
            <a:srgbClr val="F0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143500" cy="73152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9486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221E1A"/>
                </a:solidFill>
                <a:latin typeface="Inter"/>
              </a:rPr>
              <a:t>Skills Vault — your playbook</a:t>
            </a:r>
          </a:p>
          <a:p>
            <a:pPr>
              <a:spcAft>
                <a:spcPts val="600"/>
              </a:spcAft>
            </a:pPr>
            <a:r>
              <a:rPr sz="600" b="0" i="0">
                <a:solidFill>
                  <a:srgbClr val="221E1A"/>
                </a:solidFill>
                <a:latin typeface="Inter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Written by you and the planner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Plain markdown files in git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VIP customer rules, machine quirks, supplier policies, changeover rules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Read-only to the agent — it cannot accidentally edit your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3620" y="2103120"/>
            <a:ext cx="5143500" cy="4206240"/>
          </a:xfrm>
          <a:prstGeom prst="roundRect">
            <a:avLst>
              <a:gd name="adj" fmla="val 4000"/>
            </a:avLst>
          </a:prstGeom>
          <a:solidFill>
            <a:srgbClr val="F0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03620" y="2103120"/>
            <a:ext cx="5143500" cy="73152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7940" y="2377440"/>
            <a:ext cx="459486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221E1A"/>
                </a:solidFill>
                <a:latin typeface="Inter"/>
              </a:rPr>
              <a:t>Memory Vault — the agent's logbook</a:t>
            </a:r>
          </a:p>
          <a:p>
            <a:pPr>
              <a:spcAft>
                <a:spcPts val="600"/>
              </a:spcAft>
            </a:pPr>
            <a:r>
              <a:rPr sz="600" b="0" i="0">
                <a:solidFill>
                  <a:srgbClr val="221E1A"/>
                </a:solidFill>
                <a:latin typeface="Inter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Written by the agent every time a decision happens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Every recommendation, every edit, every reason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After repeated overrides, the agent drafts a </a:t>
            </a:r>
            <a:r>
              <a:rPr sz="1200" b="1" i="0">
                <a:solidFill>
                  <a:srgbClr val="221E1A"/>
                </a:solidFill>
                <a:latin typeface="Inter"/>
              </a:rPr>
              <a:t>Lesson</a:t>
            </a:r>
            <a:r>
              <a:rPr sz="1200" b="0" i="0">
                <a:solidFill>
                  <a:srgbClr val="221E1A"/>
                </a:solidFill>
                <a:latin typeface="Inter"/>
              </a:rPr>
              <a:t> for you to approve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100% yours, in plain markdown, in 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666058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666058"/>
                </a:solidFill>
                <a:latin typeface="Consolas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400" b="1" i="0">
                <a:solidFill>
                  <a:srgbClr val="F0E9DD"/>
                </a:solidFill>
                <a:latin typeface="Inter"/>
              </a:rPr>
              <a:t>How It Learns — The Correction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agent recommends ──► planner edits ──► correction note written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         │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    (3+ similar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     corrections)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         ▼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nightly reflection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drafts a Lesson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         │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         ▼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planner promotes it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         │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│                       ▼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└──── next decision uses the Lesson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                         — the mistake is not repeated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0E9DD"/>
                </a:solidFill>
                <a:latin typeface="Inter"/>
              </a:rPr>
              <a:t>This is the IP.</a:t>
            </a:r>
            <a:r>
              <a:rPr sz="1400" b="0" i="0">
                <a:solidFill>
                  <a:srgbClr val="F0E9DD"/>
                </a:solidFill>
                <a:latin typeface="Inter"/>
              </a:rPr>
              <a:t> Every override is a permanent training signal. Three similar overrides become a promoted rule. The agent grows without anyone writing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A89F90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A89F90"/>
                </a:solidFill>
                <a:latin typeface="Consolas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 i="0">
                <a:solidFill>
                  <a:srgbClr val="221E1A"/>
                </a:solidFill>
                <a:latin typeface="Inter"/>
              </a:rPr>
              <a:t>A Tuesday Morning at "Acme Auto Parts"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21E1A"/>
                </a:solidFill>
                <a:latin typeface="Inter"/>
              </a:rPr>
              <a:t>9:00 AM</a:t>
            </a:r>
            <a:r>
              <a:rPr sz="1300" b="0" i="0">
                <a:solidFill>
                  <a:srgbClr val="221E1A"/>
                </a:solidFill>
                <a:latin typeface="Inter"/>
              </a:rPr>
              <a:t> — Rakesh arrives. The agent has already drafted today's schedule and tomorrow's reorder list, with citations to every rule it used.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21E1A"/>
                </a:solidFill>
                <a:latin typeface="Inter"/>
              </a:rPr>
              <a:t>9:05 AM</a:t>
            </a:r>
            <a:r>
              <a:rPr sz="1300" b="0" i="0">
                <a:solidFill>
                  <a:srgbClr val="221E1A"/>
                </a:solidFill>
                <a:latin typeface="Inter"/>
              </a:rPr>
              <a:t> — Rakesh reviews. The Tata priority rule is right. The Machine 4 warmup rule is right. But he bumps a Mahindra work order ahead because Mahindra called him last night about a launch event Friday. He types one sentence — *"Mahindra emergency, Friday launch"* — and clicks Approve.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21E1A"/>
                </a:solidFill>
                <a:latin typeface="Inter"/>
              </a:rPr>
              <a:t>9:06 AM</a:t>
            </a:r>
            <a:r>
              <a:rPr sz="1300" b="0" i="0">
                <a:solidFill>
                  <a:srgbClr val="221E1A"/>
                </a:solidFill>
                <a:latin typeface="Inter"/>
              </a:rPr>
              <a:t> — The agent writes a correction note: what it said, what Rakesh did, why.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21E1A"/>
                </a:solidFill>
                <a:latin typeface="Inter"/>
              </a:rPr>
              <a:t>11:30 AM</a:t>
            </a:r>
            <a:r>
              <a:rPr sz="1300" b="0" i="0">
                <a:solidFill>
                  <a:srgbClr val="221E1A"/>
                </a:solidFill>
                <a:latin typeface="Inter"/>
              </a:rPr>
              <a:t> — Machine 4 trips. The agent re-plans in seconds and offers two options with citations. Rakesh picks one. No correction needed this time.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21E1A"/>
                </a:solidFill>
                <a:latin typeface="Inter"/>
              </a:rPr>
              <a:t>30 days later</a:t>
            </a:r>
            <a:r>
              <a:rPr sz="1300" b="0" i="0">
                <a:solidFill>
                  <a:srgbClr val="221E1A"/>
                </a:solidFill>
                <a:latin typeface="Inter"/>
              </a:rPr>
              <a:t> — Rakesh has overridden the agent 4 times on Mahindra emergencies. The agent drafts a Lesson: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666058"/>
                </a:solidFill>
                <a:latin typeface="Inter"/>
              </a:rPr>
              <a:t>*"When a Mahindra emergency call is logged, treat Mahindra orders as same-priority as Tata for 48 hours."*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221E1A"/>
                </a:solidFill>
                <a:latin typeface="Inter"/>
              </a:rPr>
              <a:t>Rakesh edits one word, promotes it. From tomorrow, the agent applies the rule automatically. </a:t>
            </a:r>
            <a:r>
              <a:rPr sz="1300" b="1" i="0">
                <a:solidFill>
                  <a:srgbClr val="221E1A"/>
                </a:solidFill>
                <a:latin typeface="Inter"/>
              </a:rPr>
              <a:t>Rakesh stops having to make the same correction.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666058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666058"/>
                </a:solidFill>
                <a:latin typeface="Consolas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400" b="1" i="0">
                <a:solidFill>
                  <a:srgbClr val="F0E9DD"/>
                </a:solidFill>
                <a:latin typeface="Inter"/>
              </a:rPr>
              <a:t>The Value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Planner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override rate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100% │██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│  ████████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75% │         ████████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│                 ████████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50% │                          ██████████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│                                    ████████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25% │                                            ████████████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│                                                        ██████████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10% │                                                                  ████████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│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└─────────────────────────────────────────────────────────────────────────►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A89F90"/>
                </a:solidFill>
                <a:latin typeface="Consolas"/>
              </a:rPr>
              <a:t>       Week 1     Week 4     Week 8     Month 3     Month 6     Month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A89F90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A89F90"/>
                </a:solidFill>
                <a:latin typeface="Consolas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 i="0">
                <a:solidFill>
                  <a:srgbClr val="221E1A"/>
                </a:solidFill>
                <a:latin typeface="Inter"/>
              </a:rPr>
              <a:t>What Makes Real Manufacturing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0" i="0">
                <a:solidFill>
                  <a:srgbClr val="666058"/>
                </a:solidFill>
                <a:latin typeface="Inter"/>
              </a:rPr>
              <a:t>Most "AI scheduling" demos work on toy plants — one product, one line, one supplier. </a:t>
            </a:r>
            <a:r>
              <a:rPr sz="1300" b="1" i="0">
                <a:solidFill>
                  <a:srgbClr val="666058"/>
                </a:solidFill>
                <a:latin typeface="Inter"/>
              </a:rPr>
              <a:t>Real plants don't look like that.</a:t>
            </a:r>
            <a:r>
              <a:rPr sz="1300" b="0" i="0">
                <a:solidFill>
                  <a:srgbClr val="666058"/>
                </a:solidFill>
                <a:latin typeface="Inter"/>
              </a:rPr>
              <a:t> Your products share upstream processes, your BOMs are multi-level, and one quality reject cascades into a dozen downstream orders.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66058"/>
                          </a:solidFill>
                          <a:latin typeface="Inter"/>
                        </a:rPr>
                        <a:t>Real-plant problem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66058"/>
                          </a:solidFill>
                          <a:latin typeface="Inter"/>
                        </a:rPr>
                        <a:t>What the agent does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Multiple finals share an upstream WIP (e.g. one furnace heat feeds rebar + wire rod + structural)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Models items as a </a:t>
                      </a:r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DAG</a:t>
                      </a:r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, not a flat list. Aggregates demand at the shared step.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Multi-level BOM with shared sub-assemblies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BOM-explode walks the tree, computes cumulative lead time, hits MOQ once instead of three small batches.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Supply at a shared step &lt; total demand from finals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Runs your </a:t>
                      </a:r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allocation policy</a:t>
                      </a:r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 as a skill (which customer takes the hit, which slips, why).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Quality reject at a shared upstream step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Walks `where_used` forward, shows you which downstream orders will slip and by how much.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Supplier slip during monsoon / festival / year-end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Applies promoted Lessons to inflate that supplier's effective lead time for that season only.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666058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666058"/>
                </a:solidFill>
                <a:latin typeface="Consolas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400" b="1" i="0">
                <a:solidFill>
                  <a:srgbClr val="221E1A"/>
                </a:solidFill>
                <a:latin typeface="Inter"/>
              </a:rPr>
              <a:t>One Engine, Three Verticals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 i="0">
                <a:solidFill>
                  <a:srgbClr val="666058"/>
                </a:solidFill>
                <a:latin typeface="Inter"/>
              </a:rPr>
              <a:t>Same core. Three skill packs. </a:t>
            </a:r>
            <a:r>
              <a:rPr sz="1400" b="1" i="0">
                <a:solidFill>
                  <a:srgbClr val="666058"/>
                </a:solidFill>
                <a:latin typeface="Inter"/>
              </a:rPr>
              <a:t>The agent ships pre-loaded with rules that match how your industry actually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52800" cy="4206240"/>
          </a:xfrm>
          <a:prstGeom prst="roundRect">
            <a:avLst>
              <a:gd name="adj" fmla="val 4000"/>
            </a:avLst>
          </a:prstGeom>
          <a:solidFill>
            <a:srgbClr val="F0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352800" cy="73152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80416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221E1A"/>
                </a:solidFill>
                <a:latin typeface="Inter"/>
              </a:rPr>
              <a:t>Discrete</a:t>
            </a:r>
          </a:p>
          <a:p>
            <a:pPr>
              <a:spcAft>
                <a:spcPts val="600"/>
              </a:spcAft>
            </a:pPr>
            <a:r>
              <a:rPr sz="600" b="0" i="0">
                <a:solidFill>
                  <a:srgbClr val="221E1A"/>
                </a:solidFill>
                <a:latin typeface="Inter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221E1A"/>
                </a:solidFill>
                <a:latin typeface="Inter"/>
              </a:rPr>
              <a:t>Auto parts · electronics · panel building · machining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Kanban-pull triggers and WIP caps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Due-date prioritization with critical-ratio tweaks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Lot-traceability protection on serialized parts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Cell-grouping and changeover sequencing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920" y="2103120"/>
            <a:ext cx="3352800" cy="4206240"/>
          </a:xfrm>
          <a:prstGeom prst="roundRect">
            <a:avLst>
              <a:gd name="adj" fmla="val 4000"/>
            </a:avLst>
          </a:prstGeom>
          <a:solidFill>
            <a:srgbClr val="F0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2920" y="2103120"/>
            <a:ext cx="3352800" cy="73152"/>
          </a:xfrm>
          <a:prstGeom prst="rect">
            <a:avLst/>
          </a:prstGeom>
          <a:solidFill>
            <a:srgbClr val="2D8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240" y="2377440"/>
            <a:ext cx="280416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221E1A"/>
                </a:solidFill>
                <a:latin typeface="Inter"/>
              </a:rPr>
              <a:t>Batch</a:t>
            </a:r>
          </a:p>
          <a:p>
            <a:pPr>
              <a:spcAft>
                <a:spcPts val="600"/>
              </a:spcAft>
            </a:pPr>
            <a:r>
              <a:rPr sz="600" b="0" i="0">
                <a:solidFill>
                  <a:srgbClr val="221E1A"/>
                </a:solidFill>
                <a:latin typeface="Inter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221E1A"/>
                </a:solidFill>
                <a:latin typeface="Inter"/>
              </a:rPr>
              <a:t>Chemicals · food · pharma · paints · cosmetics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Recipe-driven material consumption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Campaign batching, grade transitions, CIP/SIP rules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Expiry-aware FIFO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21-CFR-11 / GMP-aware scheduling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94320" y="2103120"/>
            <a:ext cx="3352800" cy="4206240"/>
          </a:xfrm>
          <a:prstGeom prst="roundRect">
            <a:avLst>
              <a:gd name="adj" fmla="val 4000"/>
            </a:avLst>
          </a:prstGeom>
          <a:solidFill>
            <a:srgbClr val="F0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94320" y="2103120"/>
            <a:ext cx="3352800" cy="73152"/>
          </a:xfrm>
          <a:prstGeom prst="rect">
            <a:avLst/>
          </a:prstGeom>
          <a:solidFill>
            <a:srgbClr val="534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8640" y="2377440"/>
            <a:ext cx="280416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221E1A"/>
                </a:solidFill>
                <a:latin typeface="Inter"/>
              </a:rPr>
              <a:t>Process</a:t>
            </a:r>
          </a:p>
          <a:p>
            <a:pPr>
              <a:spcAft>
                <a:spcPts val="600"/>
              </a:spcAft>
            </a:pPr>
            <a:r>
              <a:rPr sz="600" b="0" i="0">
                <a:solidFill>
                  <a:srgbClr val="221E1A"/>
                </a:solidFill>
                <a:latin typeface="Inter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221E1A"/>
                </a:solidFill>
                <a:latin typeface="Inter"/>
              </a:rPr>
              <a:t>Cement · steel · paper · refineries · smelters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TOC drum-buffer-rope bottleneck protection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Grade-transition slope rules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Utility-tariff peak/off-peak load shifting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Variable-yield JIT for consumables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666058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666058"/>
                </a:solidFill>
                <a:latin typeface="Consola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600" b="1" i="0">
                <a:solidFill>
                  <a:srgbClr val="F0E9DD"/>
                </a:solidFill>
                <a:latin typeface="Inter"/>
              </a:rPr>
              <a:t>Your Data Stays In Your Plant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F0E9DD"/>
                </a:solidFill>
                <a:latin typeface="Inter"/>
              </a:rPr>
              <a:t>The agent runs </a:t>
            </a:r>
            <a:r>
              <a:rPr sz="1400" b="1" i="0">
                <a:solidFill>
                  <a:srgbClr val="F0E9DD"/>
                </a:solidFill>
                <a:latin typeface="Inter"/>
              </a:rPr>
              <a:t>locally</a:t>
            </a:r>
            <a:r>
              <a:rPr sz="1400" b="0" i="0">
                <a:solidFill>
                  <a:srgbClr val="F0E9DD"/>
                </a:solidFill>
                <a:latin typeface="Inter"/>
              </a:rPr>
              <a:t>. Routine queries — *"recompute the kanban refill"*, *"explode this BOM"* — never leave your network. Only the genuinely hard reasoning escalates to a remote model, and even then no master data crosses the wire.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0E9DD"/>
                </a:solidFill>
                <a:latin typeface="Inter"/>
              </a:rPr>
              <a:t>The plant never stops getting useful output, even when the internet is down.</a:t>
            </a:r>
            <a:r>
              <a:rPr sz="1400" b="0" i="0">
                <a:solidFill>
                  <a:srgbClr val="F0E9DD"/>
                </a:solidFill>
                <a:latin typeface="Inter"/>
              </a:rPr>
              <a:t> Hard queries queue with a clear status. Routine schedules and JIT triggers stay current.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F0E9DD"/>
                </a:solidFill>
                <a:latin typeface="Inter"/>
              </a:rPr>
              <a:t>Minimum hardware to start: 16 GB RAM, 8 cores. No GPU required for Bronze tier.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A89F90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A89F90"/>
                </a:solidFill>
                <a:latin typeface="Consola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 i="0">
                <a:solidFill>
                  <a:srgbClr val="221E1A"/>
                </a:solidFill>
                <a:latin typeface="Inter"/>
              </a:rPr>
              <a:t>Deployment Roadmap — Bronze → Platinum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0" i="0">
                <a:solidFill>
                  <a:srgbClr val="666058"/>
                </a:solidFill>
                <a:latin typeface="Inter"/>
              </a:rPr>
              <a:t>You don't commit to everything on Day 1. We tier the engagement so you see value in Week 1 and earn the right to escalate.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66058"/>
                          </a:solidFill>
                          <a:latin typeface="Inter"/>
                        </a:rPr>
                        <a:t>Tier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66058"/>
                          </a:solidFill>
                          <a:latin typeface="Inter"/>
                        </a:rPr>
                        <a:t>What you give us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66058"/>
                          </a:solidFill>
                          <a:latin typeface="Inter"/>
                        </a:rPr>
                        <a:t>What the agent does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66058"/>
                          </a:solidFill>
                          <a:latin typeface="Inter"/>
                        </a:rPr>
                        <a:t>Time to value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21E1A"/>
                          </a:solidFill>
                          <a:latin typeface="Inter"/>
                        </a:rPr>
                        <a:t>Bronze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Item master + BOM + supplier list + weekly Excel exports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Weekly schedule recommendation + JIT reorder list + generic priority ranking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Week 1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21E1A"/>
                          </a:solidFill>
                          <a:latin typeface="Inter"/>
                        </a:rPr>
                        <a:t>Silver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Above + ERP read or daily file exports + 15–20 customer skills authored in a 1-day workshop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Daily schedule, daily PO suggestions, supplier-reliability-aware JIT, customer-aware prioritization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Week 4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21E1A"/>
                          </a:solidFill>
                          <a:latin typeface="Inter"/>
                        </a:rPr>
                        <a:t>Gold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Above + MES/SCADA live feed + production confirmations + GRN data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Reactive rescheduling on machine-down, closed-loop learning, promoted Lessons, anomaly explanations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Month 3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21E1A"/>
                          </a:solidFill>
                          <a:latin typeface="Inter"/>
                        </a:rPr>
                        <a:t>Platinum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Time-gated, not feature-gated. 6+ months of accumulated corrections and Lessons.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21E1A"/>
                          </a:solidFill>
                          <a:latin typeface="Inter"/>
                        </a:rPr>
                        <a:t>Genuinely personalized. Override rate ~10%. Defensible knowledge moat that competitors cannot port.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5621A"/>
                          </a:solidFill>
                          <a:latin typeface="Consolas"/>
                        </a:rPr>
                        <a:t>Month 6+</a:t>
                      </a:r>
                    </a:p>
                  </a:txBody>
                  <a:tcPr marL="109728" marR="109728" marT="54864" marB="54864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666058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666058"/>
                </a:solidFill>
                <a:latin typeface="Consola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400" b="1" i="0">
                <a:solidFill>
                  <a:srgbClr val="221E1A"/>
                </a:solidFill>
                <a:latin typeface="Inter"/>
              </a:rPr>
              <a:t>What You Give Us / What You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666058"/>
                </a:solidFill>
                <a:latin typeface="Inter"/>
              </a:rPr>
              <a:t>The agent runtime is the recurring revenue. The vaults are the customer-owned asset.</a:t>
            </a:r>
            <a:r>
              <a:rPr sz="1400" b="0" i="0">
                <a:solidFill>
                  <a:srgbClr val="666058"/>
                </a:solidFill>
                <a:latin typeface="Inter"/>
              </a:rPr>
              <a:t> That asymmetry is the deal.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43500" cy="4206240"/>
          </a:xfrm>
          <a:prstGeom prst="roundRect">
            <a:avLst>
              <a:gd name="adj" fmla="val 4000"/>
            </a:avLst>
          </a:prstGeom>
          <a:solidFill>
            <a:srgbClr val="F0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143500" cy="73152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9486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221E1A"/>
                </a:solidFill>
                <a:latin typeface="Inter"/>
              </a:rPr>
              <a:t>Minimal intake — Week 1</a:t>
            </a:r>
          </a:p>
          <a:p>
            <a:pPr>
              <a:spcAft>
                <a:spcPts val="600"/>
              </a:spcAft>
            </a:pPr>
            <a:r>
              <a:rPr sz="600" b="0" i="0">
                <a:solidFill>
                  <a:srgbClr val="221E1A"/>
                </a:solidFill>
                <a:latin typeface="Inter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Item master + BOM + supplier list (Excel is fine)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One named planner — 30 min/day for 60 days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One IT person — 4 hours total, Week 1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One shared folder for daily file drops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One PC inside the plant: 16 GB RAM, 8 cores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221E1A"/>
                </a:solidFill>
                <a:latin typeface="Inter"/>
              </a:rPr>
              <a:t>That's it.</a:t>
            </a:r>
            <a:r>
              <a:rPr sz="1200" b="0" i="0">
                <a:solidFill>
                  <a:srgbClr val="221E1A"/>
                </a:solidFill>
                <a:latin typeface="Inter"/>
              </a:rPr>
              <a:t> No ERP rip-and-replace. No MES integration on Day 1. No 6-month "data foundation" prerequisite.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3620" y="2103120"/>
            <a:ext cx="5143500" cy="4206240"/>
          </a:xfrm>
          <a:prstGeom prst="roundRect">
            <a:avLst>
              <a:gd name="adj" fmla="val 4000"/>
            </a:avLst>
          </a:prstGeom>
          <a:solidFill>
            <a:srgbClr val="F0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03620" y="2103120"/>
            <a:ext cx="5143500" cy="73152"/>
          </a:xfrm>
          <a:prstGeom prst="rect">
            <a:avLst/>
          </a:prstGeom>
          <a:solidFill>
            <a:srgbClr val="2D8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7940" y="2377440"/>
            <a:ext cx="459486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221E1A"/>
                </a:solidFill>
                <a:latin typeface="Inter"/>
              </a:rPr>
              <a:t>What you keep — forever</a:t>
            </a:r>
          </a:p>
          <a:p>
            <a:pPr>
              <a:spcAft>
                <a:spcPts val="600"/>
              </a:spcAft>
            </a:pPr>
            <a:r>
              <a:rPr sz="600" b="0" i="0">
                <a:solidFill>
                  <a:srgbClr val="221E1A"/>
                </a:solidFill>
                <a:latin typeface="Inter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1" i="0">
                <a:solidFill>
                  <a:srgbClr val="221E1A"/>
                </a:solidFill>
                <a:latin typeface="Inter"/>
              </a:rPr>
              <a:t>Skills Vault</a:t>
            </a:r>
            <a:r>
              <a:rPr sz="1200" b="0" i="0">
                <a:solidFill>
                  <a:srgbClr val="221E1A"/>
                </a:solidFill>
                <a:latin typeface="Inter"/>
              </a:rPr>
              <a:t> — every rule you authored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1" i="0">
                <a:solidFill>
                  <a:srgbClr val="221E1A"/>
                </a:solidFill>
                <a:latin typeface="Inter"/>
              </a:rPr>
              <a:t>Memory Vault</a:t>
            </a:r>
            <a:r>
              <a:rPr sz="1200" b="0" i="0">
                <a:solidFill>
                  <a:srgbClr val="221E1A"/>
                </a:solidFill>
                <a:latin typeface="Inter"/>
              </a:rPr>
              <a:t> — every decision, correction, Lesson the agent learned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Both are plain markdown files in your own git repo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If you cancel the subscription, the vaults stay yours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E5621A"/>
                </a:solidFill>
                <a:latin typeface="Inter"/>
              </a:rPr>
              <a:t>•  </a:t>
            </a:r>
            <a:r>
              <a:rPr sz="1200" b="0" i="0">
                <a:solidFill>
                  <a:srgbClr val="221E1A"/>
                </a:solidFill>
                <a:latin typeface="Inter"/>
              </a:rPr>
              <a:t>A successor planner starts at Month-6 quality, not Week-1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666058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666058"/>
                </a:solidFill>
                <a:latin typeface="Consola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5200" b="1" i="0">
                <a:solidFill>
                  <a:srgbClr val="F0E9DD"/>
                </a:solidFill>
                <a:latin typeface="Inter"/>
              </a:rPr>
              <a:t>The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F0E9DD"/>
                </a:solidFill>
                <a:latin typeface="Inter"/>
              </a:rPr>
              <a:t>We don't sell on the first call. We run a </a:t>
            </a:r>
            <a:r>
              <a:rPr sz="1500" b="1" i="0">
                <a:solidFill>
                  <a:srgbClr val="F0E9DD"/>
                </a:solidFill>
                <a:latin typeface="Inter"/>
              </a:rPr>
              <a:t>30-minute Customer Readiness Audit</a:t>
            </a:r>
            <a:r>
              <a:rPr sz="1500" b="0" i="0">
                <a:solidFill>
                  <a:srgbClr val="F0E9DD"/>
                </a:solidFill>
                <a:latin typeface="Inter"/>
              </a:rPr>
              <a:t> — a checklist against your master data, your planner availability, and your IT access.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0E9DD"/>
                </a:solidFill>
                <a:latin typeface="Inter"/>
              </a:rPr>
              <a:t>You walk away with: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F5B23A"/>
                </a:solidFill>
                <a:latin typeface="Inter"/>
              </a:rPr>
              <a:t>1.  </a:t>
            </a:r>
            <a:r>
              <a:rPr sz="1500" b="0" i="0">
                <a:solidFill>
                  <a:srgbClr val="F0E9DD"/>
                </a:solidFill>
                <a:latin typeface="Inter"/>
              </a:rPr>
              <a:t>A </a:t>
            </a:r>
            <a:r>
              <a:rPr sz="1500" b="1" i="0">
                <a:solidFill>
                  <a:srgbClr val="F0E9DD"/>
                </a:solidFill>
                <a:latin typeface="Inter"/>
              </a:rPr>
              <a:t>tier recommendation</a:t>
            </a:r>
            <a:r>
              <a:rPr sz="1500" b="0" i="0">
                <a:solidFill>
                  <a:srgbClr val="F0E9DD"/>
                </a:solidFill>
                <a:latin typeface="Inter"/>
              </a:rPr>
              <a:t> (Bronze / Silver / Gold) based on what your plant can realistically support today.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F5B23A"/>
                </a:solidFill>
                <a:latin typeface="Inter"/>
              </a:rPr>
              <a:t>2.  </a:t>
            </a:r>
            <a:r>
              <a:rPr sz="1500" b="0" i="0">
                <a:solidFill>
                  <a:srgbClr val="F0E9DD"/>
                </a:solidFill>
                <a:latin typeface="Inter"/>
              </a:rPr>
              <a:t>A </a:t>
            </a:r>
            <a:r>
              <a:rPr sz="1500" b="1" i="0">
                <a:solidFill>
                  <a:srgbClr val="F0E9DD"/>
                </a:solidFill>
                <a:latin typeface="Inter"/>
              </a:rPr>
              <a:t>go / no-go</a:t>
            </a:r>
            <a:r>
              <a:rPr sz="1500" b="0" i="0">
                <a:solidFill>
                  <a:srgbClr val="F0E9DD"/>
                </a:solidFill>
                <a:latin typeface="Inter"/>
              </a:rPr>
              <a:t> call, given honestly. We will tell you if you should fix your data foundation before starting.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F5B23A"/>
                </a:solidFill>
                <a:latin typeface="Inter"/>
              </a:rPr>
              <a:t>3.  </a:t>
            </a:r>
            <a:r>
              <a:rPr sz="1500" b="0" i="0">
                <a:solidFill>
                  <a:srgbClr val="F0E9DD"/>
                </a:solidFill>
                <a:latin typeface="Inter"/>
              </a:rPr>
              <a:t>A </a:t>
            </a:r>
            <a:r>
              <a:rPr sz="1500" b="1" i="0">
                <a:solidFill>
                  <a:srgbClr val="F0E9DD"/>
                </a:solidFill>
                <a:latin typeface="Inter"/>
              </a:rPr>
              <a:t>fixed-fee Week-1 pilot quote</a:t>
            </a:r>
            <a:r>
              <a:rPr sz="1500" b="0" i="0">
                <a:solidFill>
                  <a:srgbClr val="F0E9DD"/>
                </a:solidFill>
                <a:latin typeface="Inter"/>
              </a:rPr>
              <a:t>, if you proceed.</a:t>
            </a:r>
          </a:p>
          <a:p>
            <a:pPr>
              <a:spcAft>
                <a:spcPts val="400"/>
              </a:spcAft>
            </a:pPr>
            <a:r>
              <a:rPr sz="1500" b="0" i="1">
                <a:solidFill>
                  <a:srgbClr val="A89F90"/>
                </a:solidFill>
                <a:latin typeface="Inter"/>
              </a:rPr>
              <a:t>**Book the audit:**</a:t>
            </a:r>
          </a:p>
          <a:p>
            <a:pPr>
              <a:spcAft>
                <a:spcPts val="400"/>
              </a:spcAft>
            </a:pPr>
            <a:r>
              <a:rPr sz="1500" b="0" i="1">
                <a:solidFill>
                  <a:srgbClr val="A89F90"/>
                </a:solidFill>
                <a:latin typeface="Inter"/>
              </a:rPr>
              <a:t>chatgptnotes@gmail.com · Dr. Murali B. K. — Galvon</a:t>
            </a:r>
          </a:p>
          <a:p>
            <a:pPr>
              <a:spcAft>
                <a:spcPts val="400"/>
              </a:spcAft>
            </a:pPr>
            <a:r>
              <a:rPr sz="1500" b="0" i="1">
                <a:solidFill>
                  <a:srgbClr val="A89F90"/>
                </a:solidFill>
                <a:latin typeface="Inter"/>
              </a:rPr>
              <a:t>*Or talk to Saikat (automation engineer, 20+ years) directly.*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0E9DD"/>
                </a:solidFill>
                <a:latin typeface="Inter"/>
              </a:rPr>
              <a:t>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00" b="0" i="0">
                <a:solidFill>
                  <a:srgbClr val="A89F90"/>
                </a:solidFill>
                <a:latin typeface="Consolas"/>
              </a:rPr>
              <a:t>GALVON · MANUFACTURING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800" b="0" i="0">
                <a:solidFill>
                  <a:srgbClr val="A89F90"/>
                </a:solidFill>
                <a:latin typeface="Consolas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